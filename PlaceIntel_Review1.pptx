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3833856c548d6" /><Relationship Type="http://schemas.openxmlformats.org/officeDocument/2006/relationships/extended-properties" Target="/docProps/app.xml" Id="R833ddd21b58a4688" /><Relationship Type="http://schemas.openxmlformats.org/officeDocument/2006/relationships/officeDocument" Target="/ppt/presentation.xml" Id="R3060216de2034d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2bee82e4746d3"/>
  </p:sldMasterIdLst>
  <p:notesMasterIdLst>
    <p:notesMasterId xmlns:r="http://schemas.openxmlformats.org/officeDocument/2006/relationships" r:id="Rddf13ced56534d69"/>
  </p:notesMasterIdLst>
  <p:sldIdLst>
    <p:sldId xmlns:r="http://schemas.openxmlformats.org/officeDocument/2006/relationships" id="256" r:id="Rf85b110fee8245a3"/>
    <p:sldId xmlns:r="http://schemas.openxmlformats.org/officeDocument/2006/relationships" id="257" r:id="Rd696575455034833"/>
    <p:sldId xmlns:r="http://schemas.openxmlformats.org/officeDocument/2006/relationships" id="258" r:id="R42d7faa7d6504a6f"/>
    <p:sldId xmlns:r="http://schemas.openxmlformats.org/officeDocument/2006/relationships" id="259" r:id="R810c3bfa949f4c5a"/>
    <p:sldId xmlns:r="http://schemas.openxmlformats.org/officeDocument/2006/relationships" id="260" r:id="R4c0c0109194f4c9c"/>
    <p:sldId xmlns:r="http://schemas.openxmlformats.org/officeDocument/2006/relationships" id="261" r:id="R59839d2b1c64459f"/>
    <p:sldId xmlns:r="http://schemas.openxmlformats.org/officeDocument/2006/relationships" id="262" r:id="R532388f3beec4c79"/>
    <p:sldId xmlns:r="http://schemas.openxmlformats.org/officeDocument/2006/relationships" id="263" r:id="R4ada35a798ed40cc"/>
    <p:sldId xmlns:r="http://schemas.openxmlformats.org/officeDocument/2006/relationships" id="264" r:id="R2072df71e1844517"/>
    <p:sldId xmlns:r="http://schemas.openxmlformats.org/officeDocument/2006/relationships" id="265" r:id="Ref0a89a8b7864a10"/>
    <p:sldId xmlns:r="http://schemas.openxmlformats.org/officeDocument/2006/relationships" id="266" r:id="R279a98bad15d46b1"/>
    <p:sldId xmlns:r="http://schemas.openxmlformats.org/officeDocument/2006/relationships" id="267" r:id="Rbdfb04d2280847a1"/>
    <p:sldId xmlns:r="http://schemas.openxmlformats.org/officeDocument/2006/relationships" id="268" r:id="Rc4b9e443a42f47f4"/>
    <p:sldId xmlns:r="http://schemas.openxmlformats.org/officeDocument/2006/relationships" id="269" r:id="R81fa5ce6e32544ea"/>
    <p:sldId xmlns:r="http://schemas.openxmlformats.org/officeDocument/2006/relationships" id="270" r:id="R23e964b01b494921"/>
    <p:sldId xmlns:r="http://schemas.openxmlformats.org/officeDocument/2006/relationships" id="271" r:id="R26bb1bcf54ae4abe"/>
    <p:sldId xmlns:r="http://schemas.openxmlformats.org/officeDocument/2006/relationships" id="272" r:id="R881aa646203d41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a64c26746425a" /><Relationship Type="http://schemas.openxmlformats.org/officeDocument/2006/relationships/slideMaster" Target="/ppt/slideMasters/slideMaster1.xml" Id="R19f2bee82e4746d3" /><Relationship Type="http://schemas.openxmlformats.org/officeDocument/2006/relationships/notesMaster" Target="/ppt/notesMasters/notesMaster1.xml" Id="Rddf13ced56534d69" /><Relationship Type="http://schemas.openxmlformats.org/officeDocument/2006/relationships/presProps" Target="/ppt/presProps.xml" Id="R3b7697bfa54c42b9" /><Relationship Type="http://schemas.openxmlformats.org/officeDocument/2006/relationships/tableStyles" Target="/ppt/tableStyles.xml" Id="R53c1224b57b74820" /><Relationship Type="http://schemas.openxmlformats.org/officeDocument/2006/relationships/slide" Target="/ppt/slides/slide1.xml" Id="Rf85b110fee8245a3" /><Relationship Type="http://schemas.openxmlformats.org/officeDocument/2006/relationships/slide" Target="/ppt/slides/slide2.xml" Id="Rd696575455034833" /><Relationship Type="http://schemas.openxmlformats.org/officeDocument/2006/relationships/slide" Target="/ppt/slides/slide3.xml" Id="R42d7faa7d6504a6f" /><Relationship Type="http://schemas.openxmlformats.org/officeDocument/2006/relationships/slide" Target="/ppt/slides/slide4.xml" Id="R810c3bfa949f4c5a" /><Relationship Type="http://schemas.openxmlformats.org/officeDocument/2006/relationships/slide" Target="/ppt/slides/slide5.xml" Id="R4c0c0109194f4c9c" /><Relationship Type="http://schemas.openxmlformats.org/officeDocument/2006/relationships/slide" Target="/ppt/slides/slide6.xml" Id="R59839d2b1c64459f" /><Relationship Type="http://schemas.openxmlformats.org/officeDocument/2006/relationships/slide" Target="/ppt/slides/slide7.xml" Id="R532388f3beec4c79" /><Relationship Type="http://schemas.openxmlformats.org/officeDocument/2006/relationships/slide" Target="/ppt/slides/slide8.xml" Id="R4ada35a798ed40cc" /><Relationship Type="http://schemas.openxmlformats.org/officeDocument/2006/relationships/slide" Target="/ppt/slides/slide9.xml" Id="R2072df71e1844517" /><Relationship Type="http://schemas.openxmlformats.org/officeDocument/2006/relationships/slide" Target="/ppt/slides/slide10.xml" Id="Ref0a89a8b7864a10" /><Relationship Type="http://schemas.openxmlformats.org/officeDocument/2006/relationships/slide" Target="/ppt/slides/slide11.xml" Id="R279a98bad15d46b1" /><Relationship Type="http://schemas.openxmlformats.org/officeDocument/2006/relationships/slide" Target="/ppt/slides/slide12.xml" Id="Rbdfb04d2280847a1" /><Relationship Type="http://schemas.openxmlformats.org/officeDocument/2006/relationships/slide" Target="/ppt/slides/slide13.xml" Id="Rc4b9e443a42f47f4" /><Relationship Type="http://schemas.openxmlformats.org/officeDocument/2006/relationships/slide" Target="/ppt/slides/slide14.xml" Id="R81fa5ce6e32544ea" /><Relationship Type="http://schemas.openxmlformats.org/officeDocument/2006/relationships/slide" Target="/ppt/slides/slide15.xml" Id="R23e964b01b494921" /><Relationship Type="http://schemas.openxmlformats.org/officeDocument/2006/relationships/slide" Target="/ppt/slides/slide16.xml" Id="R26bb1bcf54ae4abe" /><Relationship Type="http://schemas.openxmlformats.org/officeDocument/2006/relationships/slide" Target="/ppt/slides/slide17.xml" Id="R881aa646203d41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9db142058c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e7a19de554831" /><Relationship Type="http://schemas.openxmlformats.org/officeDocument/2006/relationships/notesMaster" Target="/ppt/notesMasters/notesMaster1.xml" Id="R81a8023fe74c46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3d1200b514725" /><Relationship Type="http://schemas.openxmlformats.org/officeDocument/2006/relationships/notesMaster" Target="/ppt/notesMasters/notesMaster1.xml" Id="Rc79b705f851b43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3f20a6998488b" /><Relationship Type="http://schemas.openxmlformats.org/officeDocument/2006/relationships/notesMaster" Target="/ppt/notesMasters/notesMaster1.xml" Id="Rd2d97d060a054c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fd301809b4cb7" /><Relationship Type="http://schemas.openxmlformats.org/officeDocument/2006/relationships/notesMaster" Target="/ppt/notesMasters/notesMaster1.xml" Id="R1e60c38002654a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742e5650a645d7" /><Relationship Type="http://schemas.openxmlformats.org/officeDocument/2006/relationships/notesMaster" Target="/ppt/notesMasters/notesMaster1.xml" Id="R814c96deaf7f41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ed038e618c4298" /><Relationship Type="http://schemas.openxmlformats.org/officeDocument/2006/relationships/notesMaster" Target="/ppt/notesMasters/notesMaster1.xml" Id="Rc5014b8d7d77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a8395981334d90" /><Relationship Type="http://schemas.openxmlformats.org/officeDocument/2006/relationships/notesMaster" Target="/ppt/notesMasters/notesMaster1.xml" Id="R6b9e24ab28c44d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8f65bef3484f26" /><Relationship Type="http://schemas.openxmlformats.org/officeDocument/2006/relationships/notesMaster" Target="/ppt/notesMasters/notesMaster1.xml" Id="R7c4dd1c9ef2a43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614e4ebf6c40df" /><Relationship Type="http://schemas.openxmlformats.org/officeDocument/2006/relationships/notesMaster" Target="/ppt/notesMasters/notesMaster1.xml" Id="R778a99912b6f41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4755fa1aa14549" /><Relationship Type="http://schemas.openxmlformats.org/officeDocument/2006/relationships/notesMaster" Target="/ppt/notesMasters/notesMaster1.xml" Id="Raf683cb59b0b4f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1ba3cff6244e35" /><Relationship Type="http://schemas.openxmlformats.org/officeDocument/2006/relationships/notesMaster" Target="/ppt/notesMasters/notesMaster1.xml" Id="Rf7a33265abf945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380a445b9645ab" /><Relationship Type="http://schemas.openxmlformats.org/officeDocument/2006/relationships/notesMaster" Target="/ppt/notesMasters/notesMaster1.xml" Id="R2dfdf245ab8c4f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edf7ff04f8418b" /><Relationship Type="http://schemas.openxmlformats.org/officeDocument/2006/relationships/notesMaster" Target="/ppt/notesMasters/notesMaster1.xml" Id="Rd520df33990947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e18f227db241db" /><Relationship Type="http://schemas.openxmlformats.org/officeDocument/2006/relationships/notesMaster" Target="/ppt/notesMasters/notesMaster1.xml" Id="R65fb42aeac1a4d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fc30205ef541dc" /><Relationship Type="http://schemas.openxmlformats.org/officeDocument/2006/relationships/notesMaster" Target="/ppt/notesMasters/notesMaster1.xml" Id="R1655f1bb821346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89854c18334785" /><Relationship Type="http://schemas.openxmlformats.org/officeDocument/2006/relationships/notesMaster" Target="/ppt/notesMasters/notesMaster1.xml" Id="R20a9f267688b42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12dade148545e9" /><Relationship Type="http://schemas.openxmlformats.org/officeDocument/2006/relationships/notesMaster" Target="/ppt/notesMasters/notesMaster1.xml" Id="Rcd0fe31b9dc945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operational problem and the platform 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left side to make the fragmentation tangible; land on the â€œsource of truthâ€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system analysis, not criticism of peopleâ€”the process is the constraint.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platform is useful on day one without waiting for the chatbot; the AI layer compounds value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these as design objectives that guide scope and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these are end-to-end product capabilities, not isolated screens.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architecture choices are justified by these quality attributes.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intentionally boring where reliability matters and extensible where AI will evolve.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as a deliberate modular monolith, with AI isolated behind a service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ERD intentionally simplified for review 1; the point is the relationship design, not every attribute.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how the team avoids integration surprises before implementation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API contract is the handoff point that enables parallel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ownership as a delivery advantage, not silos.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roadmap is a dependency-based plan; dates are a planning baseline, not a promise of finished AI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future-scope story with sequencing: foundation first, intelligence second.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expected outcomes at the system level; do not present them as measured results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Review 1 handoff: the team has reduced ambiguity and is ready to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brief, architecture, timeline, and API contract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02d4249c149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117505108411f" /><Relationship Type="http://schemas.openxmlformats.org/officeDocument/2006/relationships/slideLayout" Target="/ppt/slideLayouts/slideLayout1.xml" Id="R07b367d09ac942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367d09ac942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6bec0693d4369" /><Relationship Type="http://schemas.openxmlformats.org/officeDocument/2006/relationships/notesSlide" Target="/ppt/notesSlides/notesSlide1.xml" Id="R91ae47f756ee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1ae2e74f450f" /><Relationship Type="http://schemas.openxmlformats.org/officeDocument/2006/relationships/notesSlide" Target="/ppt/notesSlides/notesSlide2.xml" Id="R80087af90fa746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5498bd6d140e6" /><Relationship Type="http://schemas.openxmlformats.org/officeDocument/2006/relationships/notesSlide" Target="/ppt/notesSlides/notesSlide3.xml" Id="Re792baa1ee2f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cbc41b43d43fd" /><Relationship Type="http://schemas.openxmlformats.org/officeDocument/2006/relationships/notesSlide" Target="/ppt/notesSlides/notesSlide4.xml" Id="Ra11d94767cd445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0460bffb7400f" /><Relationship Type="http://schemas.openxmlformats.org/officeDocument/2006/relationships/notesSlide" Target="/ppt/notesSlides/notesSlide5.xml" Id="R44897c34794544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ed5cb24b14c56" /><Relationship Type="http://schemas.openxmlformats.org/officeDocument/2006/relationships/notesSlide" Target="/ppt/notesSlides/notesSlide6.xml" Id="R5cf9913307b1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5673fceb04b7f" /><Relationship Type="http://schemas.openxmlformats.org/officeDocument/2006/relationships/notesSlide" Target="/ppt/notesSlides/notesSlide7.xml" Id="Rd7a671dba8c641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4d32ef360462f" /><Relationship Type="http://schemas.openxmlformats.org/officeDocument/2006/relationships/notesSlide" Target="/ppt/notesSlides/notesSlide8.xml" Id="R259394819045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7edecf60043ac" /><Relationship Type="http://schemas.openxmlformats.org/officeDocument/2006/relationships/notesSlide" Target="/ppt/notesSlides/notesSlide9.xml" Id="R11b1246002e6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f4df0eb5a411f" /><Relationship Type="http://schemas.openxmlformats.org/officeDocument/2006/relationships/notesSlide" Target="/ppt/notesSlides/notesSlide10.xml" Id="R96284ed91a1f4f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a796f23454864" /><Relationship Type="http://schemas.openxmlformats.org/officeDocument/2006/relationships/notesSlide" Target="/ppt/notesSlides/notesSlide11.xml" Id="R0e392396026640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20ed2f912492d" /><Relationship Type="http://schemas.openxmlformats.org/officeDocument/2006/relationships/notesSlide" Target="/ppt/notesSlides/notesSlide12.xml" Id="R5607ec2be35c42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01bc07e464c66" /><Relationship Type="http://schemas.openxmlformats.org/officeDocument/2006/relationships/notesSlide" Target="/ppt/notesSlides/notesSlide13.xml" Id="Rd1ff0319f1be45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55c0526314baa" /><Relationship Type="http://schemas.openxmlformats.org/officeDocument/2006/relationships/notesSlide" Target="/ppt/notesSlides/notesSlide14.xml" Id="R9dbab67def1941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dc5927a4a4157" /><Relationship Type="http://schemas.openxmlformats.org/officeDocument/2006/relationships/notesSlide" Target="/ppt/notesSlides/notesSlide15.xml" Id="R9378df6cb41e48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1f08defa474f" /><Relationship Type="http://schemas.openxmlformats.org/officeDocument/2006/relationships/notesSlide" Target="/ppt/notesSlides/notesSlide16.xml" Id="R1ca33244eeba4b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9348dcaff49e3" /><Relationship Type="http://schemas.openxmlformats.org/officeDocument/2006/relationships/notesSlide" Target="/ppt/notesSlides/notesSlide17.xml" Id="Rdeb169fd9d944f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999F6-AC29-43A0-BECF-5D670B3D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8D4"/>
                </a:solidFill>
              </a:defRPr>
            </a:pPr>
            <a:r>
              <a:rPr sz="1200" b="1">
                <a:solidFill>
                  <a:srgbClr val="A7B8D4"/>
                </a:solidFill>
              </a:rPr>
              <a:t>PLACEINTEL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1173E-05ED-4E38-AB0F-E2E53A6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AI-Powered Placement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BBC9A-F00B-46DF-8F05-2A0C16C0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1EE"/>
                </a:solidFill>
              </a:defRPr>
            </a:pPr>
            <a:r>
              <a:rPr sz="1650" b="0">
                <a:solidFill>
                  <a:srgbClr val="D8E1EE"/>
                </a:solidFill>
              </a:rPr>
              <a:t>Review 1 â€¢ Software Engineering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61546-76BD-4AB5-AE88-0160584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DE"/>
                </a:solidFill>
              </a:defRPr>
            </a:pPr>
            <a:r>
              <a:rPr sz="1350" b="0">
                <a:solidFill>
                  <a:srgbClr val="B7C7DE"/>
                </a:solidFill>
              </a:rPr>
              <a:t>CHARUSAT University</a:t>
            </a:r>
          </a:p>
          <a:p xmlns:a="http://schemas.openxmlformats.org/drawingml/2006/main">
            <a:pPr algn="l">
              <a:defRPr sz="1350" b="0">
                <a:solidFill>
                  <a:srgbClr val="B7C7DE"/>
                </a:solidFill>
              </a:defRPr>
            </a:pPr>
            <a:r>
              <a:rPr sz="1350" b="0">
                <a:solidFill>
                  <a:srgbClr val="B7C7DE"/>
                </a:solidFill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E0C39-2BA2-4CFD-A23C-0DDD0B09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28700"/>
            <a:ext cx="2762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42F56"/>
          </a:solidFill>
          <a:ln xmlns:a="http://schemas.openxmlformats.org/drawingml/2006/main" w="9525">
            <a:solidFill>
              <a:srgbClr val="2A4D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8DFE6-8A1B-4F6C-B62C-49D816E6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685925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C4399-B281-4B72-8F1F-35E497B9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1EE"/>
                </a:solidFill>
              </a:defRPr>
            </a:pPr>
            <a:r>
              <a:rPr sz="1275" b="0">
                <a:solidFill>
                  <a:srgbClr val="D8E1EE"/>
                </a:solidFill>
              </a:rPr>
              <a:t>Transforming placement information</a:t>
            </a:r>
          </a:p>
          <a:p xmlns:a="http://schemas.openxmlformats.org/drawingml/2006/main">
            <a:pPr algn="ctr">
              <a:defRPr sz="1275" b="0">
                <a:solidFill>
                  <a:srgbClr val="D8E1EE"/>
                </a:solidFill>
              </a:defRPr>
            </a:pPr>
            <a:r>
              <a:rPr sz="1275" b="0">
                <a:solidFill>
                  <a:srgbClr val="D8E1EE"/>
                </a:solidFill>
              </a:rPr>
              <a:t>into placement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5F88B-B239-4D76-B58E-D81071BB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8D4"/>
                </a:solidFill>
              </a:defRPr>
            </a:pPr>
            <a:r>
              <a:rPr sz="1050" b="0">
                <a:solidFill>
                  <a:srgbClr val="A7B8D4"/>
                </a:solidFill>
              </a:rPr>
              <a:t>Team members â€¢ Guide name â€¢ Academic Year</a:t>
            </a:r>
          </a:p>
        </p:txBody>
      </p:sp>
    </p:spTree>
    <p:extLst>
      <p:ext uri="{BB962C8B-B14F-4D97-AF65-F5344CB8AC3E}">
        <p14:creationId xmlns:p14="http://schemas.microsoft.com/office/powerpoint/2010/main" val="1788681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902CB-76CF-400B-8753-D8883A7E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01 Â€¢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2A23D-306C-42F3-9D01-A2D1A5A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Placement information is fragmented at the moment students need it most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7168E-7636-4F99-BE79-85D50827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The current process creates search cost, missed updates, and avoidable manual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46FC1-283B-49BF-B94C-CE113DF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E1F05-0D4A-40E8-8A95-7F704705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F14FC-5770-4874-9B0C-52987A2C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A488E-4E51-4618-89A3-15054E1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Announcements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FAB48-2900-43AB-835F-D0D0E2AC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9EDBB-D45E-4253-8A63-699AC647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02C6E-79D6-4A28-A7D5-C581B6D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WhatsApp / Google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B65A9-4867-4372-BCAB-777199E8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43E1A-AD80-4F98-B8E8-84CF026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NOTICES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4AE16-1DB3-4920-8BDB-819AD38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PDFs &amp; circulars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12FF2-5319-4DD6-A5E4-9076DD42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64C34-9149-43A2-BF10-D6358F93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SPREADSHEETS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F68B6-B08F-40E9-8448-4CF6FFFB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Manual tracking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391BB-BAE3-454A-86EC-230D10FF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476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7CB74-B23C-4A1D-A5C8-C6348F6A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THE CONSEQUENCE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45A8E-2FE0-4C19-98C1-150F51B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Students miss deadlines.</a:t>
            </a:r>
          </a:p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The T&amp;P Cell cannot see the full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165DD-B915-4133-A66E-DEF4C885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No shared source of truth â†’ no reliable intelligence.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4D42F-1858-4A39-89E0-FED7841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CA1EB-2C36-4D00-91BD-E44F6A69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4118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5BD7A-58DE-4BA2-A4B2-9972CE0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02 Â€¢ EXISTING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CB7D7-FD27-4942-AFA9-AB204473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The manual workflow breaks at retrieval, consistency, and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4211E-0895-4611-B118-04EE1826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A centralized platform is necessary because todayâ€™s process is not designed for scale.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F5BC3-C0EC-496D-9901-DD6295B5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DEFD7-EDE9-41B3-B076-84831F4F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DE076-4A59-441F-8040-B7B914D8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WITH PLACEINTEL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F600A-8BDC-4B53-8A8B-26D7C712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2BFCB-0E7E-4C67-9890-B18DC969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</a:defRPr>
            </a:pPr>
            <a:r>
              <a:rPr sz="1275" b="1">
                <a:solidFill>
                  <a:srgbClr val="10233F"/>
                </a:solidFill>
              </a:rPr>
              <a:t>Announcements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0EAF4-5F8D-4C56-9FC0-2CFBD190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Email +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F98D3-237C-4DEE-9182-D3E96B84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â†’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B1B59-AD6D-4E79-9314-3419E488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Central feed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73257-E580-415C-8C81-62183353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64C70-00DB-486E-93A0-508C550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</a:defRPr>
            </a:pPr>
            <a:r>
              <a:rPr sz="1275" b="1">
                <a:solidFill>
                  <a:srgbClr val="10233F"/>
                </a:solidFill>
              </a:rPr>
              <a:t>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7162B-18F7-4F1C-9E8D-90BE5DCD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Manual 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299E4-90A4-4F0D-B678-578A8D8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90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â†’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A9FA6-18B6-469E-BFC2-A892546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Structured 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913F4-B690-4957-926F-7B05E3EE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F1C09-B573-4F20-BCFD-58E26972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</a:defRPr>
            </a:pPr>
            <a:r>
              <a:rPr sz="1275" b="1">
                <a:solidFill>
                  <a:srgbClr val="10233F"/>
                </a:solidFill>
              </a:rPr>
              <a:t>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CAAC2-6B0E-4E39-9842-66B48DD1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Ask around / search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42555-CA3C-4CBF-B1BF-FA8209CF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57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â†’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DF891-ADA4-4A47-B491-7C2B946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Search + filters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5866C-6AD6-4D47-B6D1-0FA42416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BEEA1-3464-43BA-A668-FE54A44F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</a:defRPr>
            </a:pPr>
            <a:r>
              <a:rPr sz="1275" b="1">
                <a:solidFill>
                  <a:srgbClr val="10233F"/>
                </a:solidFill>
              </a:rPr>
              <a:t>Insights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B492A-61D0-4F10-8087-7B0C7C9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Ad hoc 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10AC2-08A4-4373-B163-DA9C24F6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â†’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551B4-E742-4006-9DA3-E10D1A19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Analytics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0EAB0-A91B-449F-BB05-F968BAD3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3AAB4-E8A3-429A-8D59-379B2B5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</a:defRPr>
            </a:pPr>
            <a:r>
              <a:rPr sz="1275" b="1">
                <a:solidFill>
                  <a:srgbClr val="10233F"/>
                </a:solidFill>
              </a:rPr>
              <a:t>Data quality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05BE9-5F72-4C0D-8D17-1C7B85B8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1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Duplicates / drift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D1C2DB-5B5F-4DA7-8EF3-5AFA995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â†’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0A92D-2807-4179-8FD4-7C906BAB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Validation + ownership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8A13DD-CD64-471B-81C7-7D30FA0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9E9769-F2B9-4E67-B80C-AE4BDDA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6959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8FE46-F608-48FB-AFA3-84DCD500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03 Â€¢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9EB12-CCC2-48B2-AB91-1E749AB5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PlaceIntel turns scattered notices into a searchable placement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BBFCC-B357-4970-8760-F7193939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A modular platform for students and the Training &amp; Placement Cell, with AI as an extensible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EEF61-4716-4687-80CC-ED62793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DBEF4-A0F9-4B99-92D9-E0066931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286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8968F-9E60-4B7A-9899-FFF2F68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6DFBA-AC16-45B6-8219-C35EE21D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3E806-DB56-4CC0-AF29-B5C3ED30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COLLECT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D4A48-C788-4B36-B04C-AD46C6C3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765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Notices, companies, drives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3BFF8-0F2D-4114-941F-2B463BC9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62F7D-65E2-43BD-8A40-BD784998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62200"/>
            <a:ext cx="2286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3A96A-7C89-48C5-B553-792E876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717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9F013-E43C-4C0F-89CB-B4A71FF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7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D5926-8E33-4B84-956A-4479F33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71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1D469-8E73-4591-953B-BA220912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765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Eligibility, skills, deadlines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7EE01-842A-4565-8ACB-DB55CF47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051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83926-305D-4E16-B829-9D67C804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286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D5ADB-2303-493C-9635-B6F6840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F5100-07BA-4E56-AC10-0274D4A8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7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6F78E-9416-41D4-BF96-586BEF2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DISCOVER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324F8-DF49-4873-9770-F68CC70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Search, filters, dashboards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C17AC-2E22-4945-8E44-B9876DD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9342A-F2D0-4BE6-980C-EF4BE6A1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62200"/>
            <a:ext cx="2286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F571E-474E-4165-A4BF-756932B9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E4D1E-CBC5-4E12-B1DC-4130AA74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7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DEE32-B15A-4E8B-9483-911A7BC9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71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12449-1896-4F76-9B84-486C2703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765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Grounded natural-language queries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6FE82-48A4-4851-A87E-42B2F499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Modular monolith today â†’ AI-ready platform tomorrow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C4C39-861A-4FFC-9524-157271E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9B1880-EA0D-4B75-83EF-FF5E4EF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0205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AF736-7299-47ED-B216-E86EB0C8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04 Â€¢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E9D6-8590-45CD-954F-E4C93103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Build a reliable placement operating system for CHARUSAT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4127A-D888-4F69-860B-C8900AA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The first release prioritizes a strong information foundation, then adds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3E66F-F593-4375-B870-68CD992B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84EA9-9E70-4F02-B90B-B9CA3F49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E3B62-7EDC-46FD-BDC3-20C80BB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Centralized placement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E599D-A2DF-4BA1-BF65-F7DB9525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EE049-E8B3-4223-ADC6-F31A596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B4833-B525-481A-BD3B-B79A5C0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Company &amp; drive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AF778-F7AF-46DD-8F75-3D5A508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9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64CE8-160E-4A54-B534-970B301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7BF2D-BCE0-4894-8AD6-53353596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Student-friendly search &amp;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3CC13-B639-446E-A301-80BCBD3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71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49438-63FC-435D-8619-52998569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F21ED-0601-4A56-A922-7DEBB8C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Eligibility and Fit Score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0CF94-1971-488F-B3B4-B54B469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33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20B1D-4137-4974-BF03-B209D951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ABACB-4CCC-4918-BD90-DAB5EFF7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Analytics for placement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F7231-8511-4FBA-98DA-28FA6B43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47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4BC0F-B30F-4741-A694-D8FF1A7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EE0CA-F4A3-427F-8E25-2C1202A9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AI-assisted information retrieval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BC0A2-FAF6-4FAF-A774-B3684D05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77DED-5313-4FAB-BB93-54B0695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E6646-973C-4088-8764-0CC609C5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Cloud-ready, modular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5AF27-80AC-4F0D-9A7B-FF81746B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71925"/>
            <a:ext cx="392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D1FBF-32C3-4660-B777-F3222A8E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1DA25-EEFF-423E-86F4-0551D697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2891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68587-4840-4ADB-A01C-9BBEC8FA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05 Â€¢ FUNCTIONAL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C9D8E-DD4A-4B85-A994-5EA2A76F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Seven capabilities define the first usable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7438E-2377-48D9-8F76-9F9B673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Each capability maps directly to a student or admin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7E8CE-18B8-4B6B-8747-B5A9CDF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F11D0-D63B-4FB7-9381-A25770F4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BD0AC-A431-4CBC-AFA3-57C47B8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3631F-A506-42F6-8801-21EB260B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E3F32-1DF2-433B-BD79-166E62C1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Secure login &amp;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E4C27-CC46-4CED-AED7-DD3DE575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E7840-0FFC-4018-9351-944D31B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CFDAE-797C-4AF7-8F7C-CFBD21F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COMPANIES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3BAF0-9C2F-4441-83A5-328D5C2A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Company catalogue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AA1BB-6954-4A16-89E2-42E54B55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03BF0-DB13-4145-8964-3E50F77F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3E67A-1FAC-43A1-90AC-46CA9A5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DRIVES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3939D-7BFD-4037-879E-440EFA7F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Placement 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8EAF1-D176-4ACA-8567-F73971E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F13C0-AA44-4E54-B9EF-E0766EF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139DA-FF10-4BB1-AA8F-DE438B7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ELIGIBILITY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D0B92-A4BE-4920-8C44-25A3BA27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Rules + fit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B2AEA-90FA-41B7-A209-1B491F34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62037-7455-43DA-99D4-4E106E5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190A1-7E4D-4B28-99AD-ED2248B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23DEE-B14F-42B5-8124-B2CF9F44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Filters &amp; discovery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DFA60-2E34-4F6B-B541-1D7C622A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62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EBF2B-8FD4-42D5-8EA7-70F1B4E9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D97D8-5B20-4857-B5EF-F6742D8C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FF5E8-B012-44E6-AA0C-8156681E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Counts &amp; trends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D1041-E103-4351-BA61-C3A65F2B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62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E2BC1-1F81-4EB6-AAA3-0224583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F16725-6A7F-4CA9-AD31-DAF3DC9E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ADMIN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1B86A-F235-4886-8B79-44E22BD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Governance &amp; uploads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9156BF-DD71-406D-A655-63CE6917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B60E2-D803-4A51-BF23-C278C91B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2128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8AD74-DE6C-4E3D-A7AA-08F3F4BD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06 Â€¢ QUALITY ATTRIBUTES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5A65-ADD4-4543-8408-ABE3F2D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Trust is a feature: the platform must be fast, secure, and maintainable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B71D-6A96-473C-A1D0-84C7A4F9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Non-functional requirements protect the experience as usage and scope grow.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88BDA-8242-49F8-96F0-60B8A29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45BED-6F01-452F-A43E-5BF034D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SCALABILITY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3E169-D9DB-47B5-AFB5-AFCE6C10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Grow from one batch to many cohorts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969A4-B6DA-4622-AFFD-A2A35E47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73170-60A7-4022-B1E5-510342CA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1A339-6CF9-4CA3-B87B-3308D87E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8602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JWT, hashing, validation, RBAC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AFFF2-FB63-4364-A713-5534926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3799D-56F2-498D-A9A9-6C25A44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BAAD9-CD99-4607-BC36-A28A16E2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Fast search and predictable APIs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293A4-01C5-4E76-AA67-ABD82089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9D9FD-E408-4DB9-82AC-5C915E6B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B6EFA-8D29-43B1-95BE-C83CD181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Backups, logging, recoverable failures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02D4B-E801-4C03-83A8-99A5710D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B69A-1C4C-4CF0-96D7-2250008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MAINTAINABILITY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95EC2-AA2D-415A-A660-2B51C85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Layered modules, shared contracts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2EDDB-15CF-408A-AA48-A0111CF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B5D03-F654-4A77-83F7-12E2771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EXTENSIBILITY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07A6E-C6CC-403E-BF4F-8ADA367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AI, notifications, mobile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7A56B-5470-4B46-98C9-2E6DA303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90178-4D24-41E6-82BA-DC685E16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9015A-84EB-4A7B-9534-DE208A2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Dockerized, cloud-ready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E746C-498F-4782-863D-B5040179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88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CAE96-E6E1-473A-9D4E-E06B517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F8B824-000D-49AE-BFD2-E1EEB1C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793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11017-C020-4B51-8A3F-0B3DC28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07 Â€¢ 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41033-ECBE-455C-A743-8ED99AF3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A pragmatic stack keeps the core simple and the future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592C4-BC8D-4267-8215-2A17D1E3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Selected technologies match the teamâ€™s need for speed, structure, and AI extensibility.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C806D-89BF-428D-959A-334829D0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8B4E2-4DF4-468F-B3D7-BDE26027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5B3D0-8151-47EB-9586-4BB74CDF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74726-50CF-48C2-9925-A5A587E0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React + 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11E0C-BA14-488B-98E3-F2EB7416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Component reuse, typed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ED714-4293-4242-87DC-BA218544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D014A-160C-488F-8949-0459A927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CE701-1482-45A8-82EA-B892021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Node.js + Express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DB3E9-EF83-4CE0-860C-CDE4A981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433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Fast REST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7724E-AD3B-41B1-BFB0-2D5F695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A475-8DF1-4FFC-9EEF-A9BB8686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384A9-E5B6-4DDC-B14F-6FA690CC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PostgreSQL + Prisma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26EBF-BB5B-482C-AB1C-BE18AA95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433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Integrity, migrations, safe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1DD3A-1879-4829-A6D6-DA29BA9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59A47-50FA-4A2F-ADF7-BFC3D14A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OPS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1C0F3-165B-4305-A406-681C37D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Docker + GitHub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4FE48-C738-4614-9DBE-D5CFA080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433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Reproducible environments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9209C-E880-4E9D-A080-B963B1F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8F660-3A90-44C1-A5E4-6F0604B6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8DC1B-75A4-4BA1-A2B1-F8FBB4DB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AWS + pgvector + FastAPI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073B3-F9AD-4A59-B5A2-197E8D81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Cloud scale + RAG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5C32A-1CD0-4D27-852B-A3642C7C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4A354-2B55-47E2-8EA6-B6EE4AE3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780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1F5AA-3264-4983-A9EE-74971D9C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08 Â€¢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2E831-BE18-4809-82B3-45AC6FD2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A modular monolith gives the team clean boundaries without premature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62074-F012-4DA9-9954-D7F5F549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Independent layers can evolve into services later without rewriting the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4CF59-BE9D-4B10-89D8-D1D6669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F1717-D90F-456E-84FC-07256ECC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C21A0-2FB6-4A7D-A2BD-1ED0D62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86FF-2427-4BCD-9A95-A131D3B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711D7-DB73-45C1-BE26-DCD4D488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Express REST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095EE-A064-4ED4-8D01-9A5CF10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A18A7-0EB8-4C18-BA13-6C1CD05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Prisma 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38CC5-FD40-4CC2-95A7-728F1BB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0BF01-B5F8-48EE-BCD8-D158520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45928-1432-4325-A2DE-831BF8A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0035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9E1A3-736A-46F1-A635-6172B98A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4335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72EDB-99F2-4C5B-BFB3-20C3506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8635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2721A-8DDE-479D-A278-47A2CAE6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2952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13E9A-6FAF-46B8-8C3D-ADEA1132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0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FUTURE EXTENSIONS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62A54-0E52-4E15-9404-F24621C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Email Collector â€¢ AI Service</a:t>
            </a:r>
          </a:p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pgvector â€¢ AWS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B240C-B9F1-4BA1-8AA3-2F138CF0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14097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EEDEF-0256-473F-B85E-E5BE082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B82"/>
                </a:solidFill>
              </a:defRPr>
            </a:pPr>
            <a:r>
              <a:rPr sz="1425" b="1">
                <a:solidFill>
                  <a:srgbClr val="5B6B82"/>
                </a:solidFill>
              </a:rPr>
              <a:t>Monorepo boundary: shared contracts + independent 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AAAAD-1F60-4679-BFD9-5C4C39C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324DB-17A4-4ECE-9A05-D4FF173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2554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4DA21-7A9A-479C-848E-07BD4D2D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09 Â€¢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968A3-011F-4749-98D7-FC2C5E4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The relational model makes placement intelligence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4B1A0-1B5A-4EA4-B0A1-F8E1C71E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Core entities preserve integrity today and provide clean retrieval units for AI tomorrow.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9CA24-0F4E-41E7-B1E5-E293F5CE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18CDA-EF3C-41B0-8AD4-DE42646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C7337-DB32-4CF1-B767-65FDAB0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AC83C-1EBB-48B2-814E-7FB6542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22439-275A-4BA9-A66D-75BBD615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6FB15-AABB-4FB1-B004-E0C28E5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BBC8E-4737-4917-B06D-7C58325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4FCC-54EB-442B-B345-D1C18FF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37AD4-53EB-4094-91F0-F5C689BE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8B7D5-BABA-4924-9201-CC14AC7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7D5CC-2261-48D9-BEF2-BE55F8B2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PLACEMENT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A80E8-5362-413D-BCC5-C6FDC0E9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7145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71CEC-C2F9-45A5-AF8C-B2EFD95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714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10767-CFB7-411B-8B94-C04E68B1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7145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A98EA-A81A-4B9A-8524-35D07890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86175"/>
            <a:ext cx="17145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8845B-7C66-4486-B067-FB47DD58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9525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CE4FB-A625-4EAC-8C3A-6C65902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29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Relational integrity â€¢ auditability â€¢ future vector compatibility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D53ED-C107-4C18-B384-F221B9C0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E2ABF-23D2-4919-B4C4-DE71B4F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8830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68EBE-ECAA-439A-9A0F-27367DE3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10 Â€¢ API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4E6E-A4EC-479E-891F-A4ED68BE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Stable API contracts let frontend and backend teams move in parallel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1931C-F9A5-434E-B6C7-174C75B1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REST resources, JSON responses, and versioning keep integration predictable.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0A912-A799-4AF7-870A-BA639D1F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761D-B099-4030-91B9-82331082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CD652-BEAB-451E-8B99-4A00D90D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B8D4"/>
                </a:solidFill>
              </a:defRPr>
            </a:pPr>
            <a:r>
              <a:rPr sz="1650" b="1">
                <a:solidFill>
                  <a:srgbClr val="A7B8D4"/>
                </a:solidFill>
              </a:rPr>
              <a:t>/api/v1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F9DB0-BF4E-4E64-8EEC-45E36E6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GET    /companies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445C9-4C05-4F9F-A68F-0AB8653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POST   /companies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46B73-5129-4E3F-985D-4E2A8C0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GET    /placements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6FC6-8367-4905-ABB1-90241E73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POST   /placements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6C12E-0E80-4670-BB80-8E9BAF44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PUT    /placements/:id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6FC6C-B62A-4E42-940A-5A111C74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DELETE /placements/:id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0C389-D76B-419D-AAB6-3B560122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GET    /analytics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E633F-7ED1-4C4E-AEB7-544E1C6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931BF-BB01-435A-AEAF-89E871C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CONTRACT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D3ADF-BBA8-420E-A830-4ED91A28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â€¢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64DBA-DE64-478B-9D52-A41998C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F"/>
                </a:solidFill>
              </a:defRPr>
            </a:pPr>
            <a:r>
              <a:rPr sz="1350" b="0">
                <a:solidFill>
                  <a:srgbClr val="10233F"/>
                </a:solidFill>
              </a:rPr>
              <a:t>Resource-based URLs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92DCA-F253-40DA-ACB6-2E2C726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â€¢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E4AD2-C22F-4BBD-9B57-099FF1AD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F"/>
                </a:solidFill>
              </a:defRPr>
            </a:pPr>
            <a:r>
              <a:rPr sz="1350" b="0">
                <a:solidFill>
                  <a:srgbClr val="10233F"/>
                </a:solidFill>
              </a:rPr>
              <a:t>JWT authorization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0B2BD-D291-4BAD-867D-E925B231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â€¢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6B63C-A0D5-4634-B2F8-7F70C63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F"/>
                </a:solidFill>
              </a:defRPr>
            </a:pPr>
            <a:r>
              <a:rPr sz="1350" b="0">
                <a:solidFill>
                  <a:srgbClr val="10233F"/>
                </a:solidFill>
              </a:rPr>
              <a:t>Standard status codes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1E600-6AAC-4457-BC3D-5CBD08E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â€¢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4D9E7-7484-4AB7-AFD4-DBE5DD5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F"/>
                </a:solidFill>
              </a:defRPr>
            </a:pPr>
            <a:r>
              <a:rPr sz="1350" b="0">
                <a:solidFill>
                  <a:srgbClr val="10233F"/>
                </a:solidFill>
              </a:rPr>
              <a:t>Zod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6FF4C-49FF-446C-A1AE-A148E611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196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â€¢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95881-34D9-4746-8A39-7E744E4E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F"/>
                </a:solidFill>
              </a:defRPr>
            </a:pPr>
            <a:r>
              <a:rPr sz="1350" b="0">
                <a:solidFill>
                  <a:srgbClr val="10233F"/>
                </a:solidFill>
              </a:rPr>
              <a:t>Predictable JSON responses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4AD36-87CF-4B42-86D8-F4707E7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E4FEF-061F-4637-953B-C1B2CCC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9644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048B13-1D6E-4B4F-924C-080D28FC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11 Â€¢ DEVELOPMENT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9CDDE-7130-470D-AFAC-BB891574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Dependencies first; parallel delivery second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292E2-E798-44AB-B023-891C042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The workflow front-loads shared decisions, then unlocks independent workstreams.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AF1AB-67CD-4DA6-936C-871756DC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EE0E2-59B9-4FF0-9E4A-9B250382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62324-F9AE-4B14-BA4E-85CC3D4E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7811A-31F1-42E0-9CEC-B8559E4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5B826-D17B-4DD3-AC5A-ADEB57EF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5A304-32EE-465F-A9F5-D2B1C42E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9413C-5B85-43FE-8D0B-73D9AC9C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9551E-08CF-465F-A18B-5105FB9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0A95A-3D25-4814-A29B-D858FA70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0425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CAAFC-B437-4D8F-A073-CBF7B9F7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E3652-5ECE-45F2-9B5C-A9869D89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612E9-BB16-4028-880C-E96F2A1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2C8D3-F4BE-4370-AA99-A06D87A9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0425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81B4B-7521-4C13-9625-445B406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ADAB4-B08A-4652-82C4-C578B644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35B20-0777-4F88-81FF-C97B4DB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8A017-F561-4A11-A818-46FFBB4A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28925"/>
            <a:ext cx="1524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FD638-9D4D-4C1B-8205-61EE612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001E8-1C0D-4702-9C46-51DE582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03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B5F53-0B46-4816-A151-16BB33E2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98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Parallel build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43A94-0FA0-4FDF-80E7-2392C4E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1524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83BEA-AAD5-476E-B54A-1B2F3680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12AE8-AD01-42AC-9E82-E5EE9582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A93EE-2C0C-4469-BBF9-32E759EC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Integration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148B9-9919-4F05-91FD-5EC8187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00425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08A63-4EE9-456E-A821-11C98BE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BBC82-F5A1-4229-8FF3-E4DB7D4A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8ECAB-51D2-4D31-B341-4984630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E0957-21FB-4743-AF7E-8F229EF8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0425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F21AA-F3CC-45DC-B350-37C8AF8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A479DF-881F-4938-AE73-3B4297C5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60EBE5-5D60-4D36-81E1-23EF1E9F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Deployment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C529C9-0874-4B10-A34E-A6211B43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00425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B12503-E62C-49FA-8112-A969B10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48000"/>
            <a:ext cx="100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B42C1-8A00-45FC-A759-FF58ECA0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718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C33DA1-BC8F-4336-8C80-BB01410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81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AI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C971FD-232B-42AB-8CB8-3E425FB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Parallel tracks after API contract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F06F9F-D541-40D9-A2FD-008DA298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Frontend  â€¢  Backend  â€¢  DevOps  â€¢  AI preparation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D3E00C-4822-4B62-A01B-A74E5A9D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CE3657-1BA9-411A-A776-840B21AC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7605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D98E6-43A2-4B01-8104-0F3B13BF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12 Â€¢ TEAM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DBB8A-9624-4F9F-B408-25C2A12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Clear ownership keeps architecture, delivery, and AI work 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E8782-A802-42EF-80B4-2CEDC78B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Responsibilities are separated by specialty, with shared integration checkpoints.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6C1E1-D2F7-491B-97BE-D6856A6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47D8E-3E6C-4B26-B5D4-483F329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42109-3C11-494E-9141-4E69CDB8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C9C6D-490A-42DF-A701-79828B1C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FAA3B-C57A-4A8D-B33B-40391317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Architecture &amp;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69866-5B22-4B87-B541-4E62992D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Software architecture</a:t>
            </a:r>
          </a:p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Database design</a:t>
            </a:r>
          </a:p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DevOps &amp; cloud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9B215-4211-4355-9E90-03DC3881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41402-3570-45A7-A2F1-5B76B247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3817C-655D-4604-B2D3-37609D8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93B95-0C8B-468A-AF6D-24C19EC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Product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783E2-5F3F-40D5-977D-C93A85B8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Backend development</a:t>
            </a:r>
          </a:p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Frontend development</a:t>
            </a:r>
          </a:p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REST API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A7806-38BF-4F2D-A90E-CA7D2874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2B279-0EA3-4BCB-8239-5125CCE1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56CD2-6437-41D6-B3A1-87839FA8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EB9BE-A36A-4DB9-A57F-79E2FB8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AI &amp;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BCA86-095A-4336-9077-7B70F82B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Data processing</a:t>
            </a:r>
          </a:p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NLP preparation</a:t>
            </a:r>
          </a:p>
          <a:p xmlns:a="http://schemas.openxmlformats.org/drawingml/2006/main">
            <a:pPr algn="l">
              <a:defRPr sz="1350" b="0">
                <a:solidFill>
                  <a:srgbClr val="5B6B82"/>
                </a:solidFill>
              </a:defRPr>
            </a:pPr>
            <a:r>
              <a:rPr sz="1350" b="0">
                <a:solidFill>
                  <a:srgbClr val="5B6B82"/>
                </a:solidFill>
              </a:rPr>
              <a:t>RAG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CD2CC-8A5B-4AD8-92E0-449BFC1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Shared checkpoint: integration, testing, and review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F8969-E283-4347-920B-26411B95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19A64-39B8-4177-9E59-7F5E0C5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8700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A14277-BA17-48B4-9A51-5C9AEA7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13 Â€¢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C354-A730-4BE6-BD14-250F74CE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A 15-week roadmap converts the architecture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0C0E7-4523-40BA-B376-F95F4152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Milestones sequence the foundation, product build, intelligence, and hardening.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422BB-F941-4BEC-8C73-F11A4B5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8CE05-4778-4FC1-827B-8616C19E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8C45C-BC91-4EBF-A44C-C8B239C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D91B4-B252-4651-A2C8-115FD583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18330-C68A-43E2-840F-149E9EC6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BA4D7-2F20-46B0-8BD5-386AC3E9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0CEE5-CFAB-4D2D-8616-EDDF47BF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B47C2-42A4-4C5F-893B-D426286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8FCEC-FF02-4C4F-B8FF-E0B15510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8CB20-F72F-4A71-82A3-D0023A6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39D58-23E2-4E48-91EC-34BB531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127DA-FA13-43D7-8853-64BC647F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4BA09-6B21-4324-AC55-DE1AEAB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9BB09-7853-49A4-B3DA-1ACA4634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21725-F209-4F9B-A8C8-51D7D1D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17CEC-C72A-47F4-92D3-A54DFCC4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F4B66-BF32-4EF7-BBA2-3F37C667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348A9-3E46-4591-83B0-A41C866C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15C2A-69F4-4ED3-A931-CFC2FFBB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F9958-92BA-459D-8162-14048154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87A62-5740-43E2-AAAA-EC591A7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7A07E-16A9-4CBE-B483-45DDF35F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ADAAF-22F9-40FD-A92F-3A3B2FA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90283-EC8D-45D7-8031-7AD24E3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7E905-1208-466C-936E-CB5828B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5794E-CDEA-447D-BCCF-6C35717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8BF92-DA26-40C5-835B-08FA996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F63DD-FBF4-403A-9235-8830A5C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881094-C7D6-4619-825A-B824694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67A96-5B84-4E1D-9D52-1B58EEA4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288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E5DA4-A6EF-46C1-B97B-D4740CE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9525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F1938B-0092-4E96-AE5D-31F81A8B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Requirements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58547-A64C-4780-8CEA-A7425399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B9ADE-00CA-4577-A20E-25051CD5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Architecture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2BD387-D99C-41E1-BB50-62DF7F5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95575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57E66-27B8-47E2-9C9E-F1A52731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Database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017445-FE87-4158-A3D9-8C49EC5F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7FE9C9-9954-4DA2-9F9C-D8D923A3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UI + 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0467AF-DA7E-4920-A594-D51A653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1472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70329B-0C42-4842-9252-CCF98015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Integration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BFC66C-88F0-4CEC-87B3-7D2257AC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C61B89-3D42-4E7B-BFF6-F258AB7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Analytics + automation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6FC6CD-64C2-4520-B181-C65EADF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DCAE5E-C2A4-4DA5-931E-9FD3CEB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Cloud deployment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8190EE-5314-4974-8886-389F87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85C7BE-66BE-4D4C-A32E-D41F010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AI integration + testing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2EE437-A224-493C-BCFD-E58288C8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53025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E8706B-A22C-4D27-A81B-7E20196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3BC54E-82B3-40E8-B5D0-67596F5B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546377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8B8A9-F255-4790-928F-A76B15B5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14 Â€¢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27C03-4797-4B13-8025-88A6DD88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The core platform creates a runway for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16F4D-3CA2-42D0-A108-54D12F4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Future enhancements become safer once the data model, permissions, and APIs are 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6C2CB-130F-49F4-B454-2482B24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908BE-C578-4F59-86F1-FE2A5EB1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1F465-407F-41E7-978D-F0A3589F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FC570-348B-412F-B261-FFC4A44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Structured placement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E7548-BEEE-4476-B5B2-2CA7FCF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23EEF-4BA8-43CF-9C37-10D988F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639CA-88D8-4B0A-A4B0-57E9B597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DF3D8-AB3F-406A-8399-79E307F0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Email collection + 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7E636-6222-4698-B3BB-8ED50C4D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8BB5C-648D-4778-8E68-FA18045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6886B-490B-4D14-8F5C-CE80C4C0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THEN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9A9D-8BEA-444E-8826-8DE8819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RAG chatbot + semantic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4EB8E-9CA9-4B70-B886-861DA0ED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B5A25-4740-480B-A2C4-ADC076E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8A6AA-B2E0-424B-B9D8-4CBB8A5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05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LATER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8178A-3576-421C-B199-5F023430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Mobile app + multi-university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C66E5-37F5-458F-8C7F-6027B6B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AI is a force multiplier for trusted dataâ€”not a substitute for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C14B3-6343-4134-B514-06499C6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8A5D8-F5C6-4797-BE58-BD345A9E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01504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5CE2B-413E-43AC-9DF2-E950A3E4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15 Â€¢ EXPECTED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92DD3-0241-4F5D-B69C-19B3A754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Review 1 establishes the foundation for a production-ready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164DF-01C0-4F18-AE4F-7204A58B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2"/>
                </a:solidFill>
              </a:defRPr>
            </a:pPr>
            <a:r>
              <a:rPr sz="1275" b="0">
                <a:solidFill>
                  <a:srgbClr val="5B6B82"/>
                </a:solidFill>
              </a:rPr>
              <a:t>The next review can focus on implementation evidence because the design decisions are now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D1759-7DDC-4721-B160-479873B8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6029F-A581-4CEF-893D-7F385121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476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5F920-6994-4C3F-8A4F-E799CCC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0521E-BBB8-4AB2-ACAF-AF87A5CA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ONE SOURCE OF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3DC8C-09AC-4FC6-8E0F-580495E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Centralized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C20A3-E69B-4307-8186-0DF4042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4476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DE466-C4D3-4F6A-B07C-8DBF6AA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51BB1-C9F3-4150-A2B5-4C920663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FASTER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DCF1F-3B58-4AD7-8AC7-176656E2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Search, filters, and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6ACC-C883-47B2-A588-B4F40F37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476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34DAD-052C-4EF6-AC55-9913C1F5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004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9E96C-1600-4924-B21E-5F28346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EXPLAINABLE INSIGHTS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8195B-80AE-488D-A1AB-A10DD96B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24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Analytics + Fit Score + grounded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9148E-4704-4DD1-B1A4-D5199F8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4476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3B659-2757-448C-ACDE-0CFDE0A2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004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964A9-1261-4FC2-8D3B-98CE52C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SCALABLE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812B6-8B06-4B08-BDFE-C66DBB3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Modular, secure, cloud-ready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5B0B4-056C-4161-8C31-B2FEC238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82"/>
                </a:solidFill>
              </a:defRPr>
            </a:pPr>
            <a:r>
              <a:rPr sz="825" b="1">
                <a:solidFill>
                  <a:srgbClr val="5B6B82"/>
                </a:solidFill>
              </a:rPr>
              <a:t>PLACEINTEL â€¢ REVIEW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4434A-5E9D-4B07-868D-2E6A5616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61135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46673-0C88-4461-851B-7567A5EA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8D4"/>
                </a:solidFill>
              </a:defRPr>
            </a:pPr>
            <a:r>
              <a:rPr sz="1050" b="1">
                <a:solidFill>
                  <a:srgbClr val="A7B8D4"/>
                </a:solidFill>
              </a:rPr>
              <a:t>REVIEW 1 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1EB4E-30AA-4AD9-B993-582A4AAA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foundation is ready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for implementation.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BEAD9-B5A4-470D-8F1D-DB5E3140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1EE"/>
                </a:solidFill>
              </a:defRPr>
            </a:pPr>
            <a:r>
              <a:rPr sz="1425" b="0">
                <a:solidFill>
                  <a:srgbClr val="D8E1EE"/>
                </a:solidFill>
              </a:rPr>
              <a:t>Problem analyzed â€¢ Requirements identified â€¢ Architecture finalized</a:t>
            </a:r>
          </a:p>
          <a:p xmlns:a="http://schemas.openxmlformats.org/drawingml/2006/main">
            <a:pPr algn="l">
              <a:defRPr sz="1425" b="0">
                <a:solidFill>
                  <a:srgbClr val="D8E1EE"/>
                </a:solidFill>
              </a:defRPr>
            </a:pPr>
            <a:r>
              <a:rPr sz="1425" b="0">
                <a:solidFill>
                  <a:srgbClr val="D8E1EE"/>
                </a:solidFill>
              </a:rPr>
              <a:t>Database + API designs prepared â€¢ Roadmap and ownership 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72DF0-C970-4807-BF5A-2FCD8E5D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2F56"/>
          </a:solidFill>
          <a:ln xmlns:a="http://schemas.openxmlformats.org/drawingml/2006/main" w="9525">
            <a:solidFill>
              <a:srgbClr val="2A4D7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A8AF-220A-42B5-91AE-9C58E6A7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DAD56-1D6E-4DE0-9CAC-ED6EE7DC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E1EE"/>
                </a:solidFill>
              </a:defRPr>
            </a:pPr>
            <a:r>
              <a:rPr sz="2025" b="1">
                <a:solidFill>
                  <a:srgbClr val="D8E1EE"/>
                </a:solidFill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245C1-39EC-40A8-86D8-F099105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D4"/>
                </a:solidFill>
              </a:defRPr>
            </a:pPr>
            <a:r>
              <a:rPr sz="1200" b="0">
                <a:solidFill>
                  <a:srgbClr val="A7B8D4"/>
                </a:solidFill>
              </a:rPr>
              <a:t>Transforming placement information into placement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070588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2026-08-07T15:28:38.3360000Z</dcterms:created>
  <dcterms:modified xsi:type="dcterms:W3CDTF">2026-08-07T15:28:38.3370000Z</dcterms:modified>
</coreProperties>
</file>